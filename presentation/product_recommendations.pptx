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*" initials="*" lastIdx="1" clrIdx="0">
    <p:extLst>
      <p:ext uri="{19B8F6BF-5375-455C-9EA6-DF929625EA0E}">
        <p15:presenceInfo xmlns:p15="http://schemas.microsoft.com/office/powerpoint/2012/main" userId="*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2ABC8-B07C-4C80-9444-68C706D1AFF4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DE243-8F02-4A90-AE6E-434A7EF45B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4490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2ABC8-B07C-4C80-9444-68C706D1AFF4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DE243-8F02-4A90-AE6E-434A7EF45B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3084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2ABC8-B07C-4C80-9444-68C706D1AFF4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DE243-8F02-4A90-AE6E-434A7EF45B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3155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2ABC8-B07C-4C80-9444-68C706D1AFF4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DE243-8F02-4A90-AE6E-434A7EF45B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312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2ABC8-B07C-4C80-9444-68C706D1AFF4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DE243-8F02-4A90-AE6E-434A7EF45B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3611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2ABC8-B07C-4C80-9444-68C706D1AFF4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DE243-8F02-4A90-AE6E-434A7EF45B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3284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2ABC8-B07C-4C80-9444-68C706D1AFF4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DE243-8F02-4A90-AE6E-434A7EF45B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0425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2ABC8-B07C-4C80-9444-68C706D1AFF4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DE243-8F02-4A90-AE6E-434A7EF45B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794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2ABC8-B07C-4C80-9444-68C706D1AFF4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DE243-8F02-4A90-AE6E-434A7EF45B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983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2ABC8-B07C-4C80-9444-68C706D1AFF4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DE243-8F02-4A90-AE6E-434A7EF45B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2540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2ABC8-B07C-4C80-9444-68C706D1AFF4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DE243-8F02-4A90-AE6E-434A7EF45B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2104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32ABC8-B07C-4C80-9444-68C706D1AFF4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8DE243-8F02-4A90-AE6E-434A7EF45B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4425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01567C-BE87-4ED0-848A-5FF3C6B988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Why User Growth Does Not Revenue Growth</a:t>
            </a:r>
            <a:endParaRPr lang="ru-RU" sz="4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D2E192C-F0E6-400D-84DA-11982B356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1130" y="3678638"/>
            <a:ext cx="3429740" cy="872308"/>
          </a:xfrm>
          <a:noFill/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r>
              <a:rPr lang="en-US" dirty="0"/>
              <a:t>Firuzjon Qurbonov</a:t>
            </a:r>
            <a:endParaRPr lang="ru-RU" dirty="0"/>
          </a:p>
          <a:p>
            <a:r>
              <a:rPr lang="en-US" dirty="0"/>
              <a:t>Product analyst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7942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9C7B1D-EBAA-47C8-BE7E-1F5E9B94A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3763" y="743505"/>
            <a:ext cx="3932237" cy="1600200"/>
          </a:xfrm>
        </p:spPr>
        <p:txBody>
          <a:bodyPr/>
          <a:lstStyle/>
          <a:p>
            <a:r>
              <a:rPr lang="en-US" dirty="0"/>
              <a:t>Case Problem</a:t>
            </a:r>
            <a:endParaRPr lang="ru-RU" dirty="0"/>
          </a:p>
        </p:txBody>
      </p:sp>
      <p:pic>
        <p:nvPicPr>
          <p:cNvPr id="6" name="Объект 5" descr="Предупреждение со сплошной заливкой">
            <a:extLst>
              <a:ext uri="{FF2B5EF4-FFF2-40B4-BE49-F238E27FC236}">
                <a16:creationId xmlns:a16="http://schemas.microsoft.com/office/drawing/2014/main" id="{D9980FAD-BF8B-40D8-97CD-6119782575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7586" y="3144915"/>
            <a:ext cx="3187345" cy="3187345"/>
          </a:xfr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97A44AFE-3D85-490C-A4B0-6E4A013AC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63763" y="2527208"/>
            <a:ext cx="3932237" cy="60257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   Increased user activity does not lead to increased revenue.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7CA53A-01C7-43F7-9737-A4A3600C1ABC}"/>
              </a:ext>
            </a:extLst>
          </p:cNvPr>
          <p:cNvSpPr txBox="1"/>
          <p:nvPr/>
        </p:nvSpPr>
        <p:spPr>
          <a:xfrm>
            <a:off x="2163764" y="3147134"/>
            <a:ext cx="3932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400" dirty="0"/>
              <a:t>   </a:t>
            </a:r>
            <a:r>
              <a:rPr lang="en-US" sz="1400" dirty="0"/>
              <a:t>Despite the high growth in page views, users are not adding products to cart.</a:t>
            </a:r>
            <a:endParaRPr lang="ru-RU" sz="14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FA0AB46-362C-4636-910C-C5C8BB092B07}"/>
              </a:ext>
            </a:extLst>
          </p:cNvPr>
          <p:cNvSpPr/>
          <p:nvPr/>
        </p:nvSpPr>
        <p:spPr>
          <a:xfrm>
            <a:off x="2163763" y="2527208"/>
            <a:ext cx="3932237" cy="1143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7851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E00BED-4CB2-45BD-9407-1D8354F33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3760" y="780911"/>
            <a:ext cx="3932237" cy="1600200"/>
          </a:xfrm>
        </p:spPr>
        <p:txBody>
          <a:bodyPr/>
          <a:lstStyle/>
          <a:p>
            <a:r>
              <a:rPr lang="en-US" dirty="0"/>
              <a:t>Purpose of the Case</a:t>
            </a:r>
            <a:endParaRPr lang="ru-RU" dirty="0"/>
          </a:p>
        </p:txBody>
      </p:sp>
      <p:pic>
        <p:nvPicPr>
          <p:cNvPr id="6" name="Объект 5" descr="В яблочко со сплошной заливкой">
            <a:extLst>
              <a:ext uri="{FF2B5EF4-FFF2-40B4-BE49-F238E27FC236}">
                <a16:creationId xmlns:a16="http://schemas.microsoft.com/office/drawing/2014/main" id="{A47933E7-9F83-4A4E-BD52-DAA27F90CC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812088" y="2967037"/>
            <a:ext cx="3540124" cy="3540124"/>
          </a:xfr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75F6D1D2-5595-4444-9711-61970332B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43659" y="2726401"/>
            <a:ext cx="3932237" cy="1305689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Analyze user behavior </a:t>
            </a:r>
            <a:br>
              <a:rPr lang="en-US" dirty="0"/>
            </a:br>
            <a:r>
              <a:rPr lang="en-US" dirty="0"/>
              <a:t>by segments.</a:t>
            </a:r>
            <a:endParaRPr lang="ru-RU" dirty="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Identify the reasons for low conversion</a:t>
            </a:r>
            <a:r>
              <a:rPr lang="ru-RU" dirty="0"/>
              <a:t>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Identify revenue growth points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3C3927-A2FB-404E-BB83-08AF42B042D3}"/>
              </a:ext>
            </a:extLst>
          </p:cNvPr>
          <p:cNvSpPr/>
          <p:nvPr/>
        </p:nvSpPr>
        <p:spPr>
          <a:xfrm>
            <a:off x="2163761" y="2676648"/>
            <a:ext cx="3932236" cy="1405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002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A52AD4-FEE8-417C-A6DE-1BF879D31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3761" y="819288"/>
            <a:ext cx="3932237" cy="1600200"/>
          </a:xfrm>
        </p:spPr>
        <p:txBody>
          <a:bodyPr/>
          <a:lstStyle/>
          <a:p>
            <a:r>
              <a:rPr lang="en-US" dirty="0"/>
              <a:t>Key insights</a:t>
            </a:r>
            <a:endParaRPr lang="ru-RU" dirty="0"/>
          </a:p>
        </p:txBody>
      </p:sp>
      <p:pic>
        <p:nvPicPr>
          <p:cNvPr id="6" name="Объект 5" descr="Лампочка со сплошной заливкой">
            <a:extLst>
              <a:ext uri="{FF2B5EF4-FFF2-40B4-BE49-F238E27FC236}">
                <a16:creationId xmlns:a16="http://schemas.microsoft.com/office/drawing/2014/main" id="{3BC00DFB-88DA-4DE3-993D-8F9037D176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2908" y="2940404"/>
            <a:ext cx="3540124" cy="3540124"/>
          </a:xfr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E6CB01C2-1454-40E2-9454-9ECB7D277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63761" y="2789483"/>
            <a:ext cx="3855299" cy="2670284"/>
          </a:xfrm>
        </p:spPr>
        <p:txBody>
          <a:bodyPr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The Add-to-Cart conversion rate of new users is 1.8 times lower than that of the core users.</a:t>
            </a:r>
            <a:endParaRPr lang="ru-RU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The main traffic is generated by core users  </a:t>
            </a:r>
            <a:br>
              <a:rPr lang="en-US" sz="1400" dirty="0"/>
            </a:br>
            <a:r>
              <a:rPr lang="en-US" sz="1400" dirty="0"/>
              <a:t>(~ 80% of views).</a:t>
            </a:r>
            <a:endParaRPr lang="ru-RU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New users actively browse categories, but add products to cart significantly less often than core users.</a:t>
            </a:r>
            <a:endParaRPr lang="ru-RU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The problem is observed in all key categories.</a:t>
            </a:r>
            <a:endParaRPr lang="ru-RU" sz="14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3E64C7A-B542-481B-903D-19DF144C40D9}"/>
              </a:ext>
            </a:extLst>
          </p:cNvPr>
          <p:cNvSpPr/>
          <p:nvPr/>
        </p:nvSpPr>
        <p:spPr>
          <a:xfrm>
            <a:off x="2089780" y="2721484"/>
            <a:ext cx="4003259" cy="22056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893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067613-3A86-42C6-B415-19ED7B18D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9672" y="1114230"/>
            <a:ext cx="2871970" cy="872379"/>
          </a:xfrm>
        </p:spPr>
        <p:txBody>
          <a:bodyPr>
            <a:normAutofit/>
          </a:bodyPr>
          <a:lstStyle/>
          <a:p>
            <a:r>
              <a:rPr lang="en-US" sz="3200" dirty="0"/>
              <a:t>Visualizations</a:t>
            </a:r>
            <a:endParaRPr lang="ru-RU" sz="3200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C0B522A9-E118-4811-9621-A164AAEB1D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33" b="78"/>
          <a:stretch/>
        </p:blipFill>
        <p:spPr>
          <a:xfrm>
            <a:off x="1709672" y="2565645"/>
            <a:ext cx="6337177" cy="3666478"/>
          </a:xfr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A06EB27-73D1-4163-A4D0-5917E6D7FC31}"/>
              </a:ext>
            </a:extLst>
          </p:cNvPr>
          <p:cNvSpPr/>
          <p:nvPr/>
        </p:nvSpPr>
        <p:spPr>
          <a:xfrm>
            <a:off x="1709672" y="1986609"/>
            <a:ext cx="6337177" cy="5080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1400" dirty="0"/>
              <a:t>   </a:t>
            </a:r>
            <a:r>
              <a:rPr lang="en-US" sz="1400" dirty="0"/>
              <a:t>The analysis showed a systematic decline in conversion rates for new users </a:t>
            </a:r>
            <a:br>
              <a:rPr lang="en-US" sz="1400" dirty="0"/>
            </a:br>
            <a:r>
              <a:rPr lang="en-US" sz="1400" dirty="0"/>
              <a:t>across all categories.</a:t>
            </a:r>
            <a:endParaRPr lang="ru-RU" sz="1400" dirty="0"/>
          </a:p>
        </p:txBody>
      </p:sp>
      <p:pic>
        <p:nvPicPr>
          <p:cNvPr id="16" name="Рисунок 15" descr="Исследование со сплошной заливкой">
            <a:extLst>
              <a:ext uri="{FF2B5EF4-FFF2-40B4-BE49-F238E27FC236}">
                <a16:creationId xmlns:a16="http://schemas.microsoft.com/office/drawing/2014/main" id="{58CD4801-FA3B-48D9-AA3F-7E5BD1A844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38314" y="3361344"/>
            <a:ext cx="3297965" cy="3297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009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3991DB-BD75-49F7-9325-E4847FA96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3201" y="1192519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Interpretation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3898D2-BA02-470D-8737-CCD0D956B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3201" y="2518083"/>
            <a:ext cx="6064558" cy="193971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1600" dirty="0"/>
              <a:t>New users do not go through the process of adding to cart.</a:t>
            </a:r>
            <a:endParaRPr lang="ru-RU" sz="1600" dirty="0"/>
          </a:p>
          <a:p>
            <a:pPr algn="just">
              <a:lnSpc>
                <a:spcPct val="120000"/>
              </a:lnSpc>
            </a:pPr>
            <a:r>
              <a:rPr lang="en-US" sz="1600" dirty="0"/>
              <a:t>Possible reasons</a:t>
            </a:r>
            <a:r>
              <a:rPr lang="ru-RU" sz="1600" dirty="0"/>
              <a:t>: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1A11E54-EFA0-4ED8-8ADE-B01ADD598A1E}"/>
              </a:ext>
            </a:extLst>
          </p:cNvPr>
          <p:cNvSpPr/>
          <p:nvPr/>
        </p:nvSpPr>
        <p:spPr>
          <a:xfrm>
            <a:off x="2080704" y="3051945"/>
            <a:ext cx="3716415" cy="140584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/>
              <a:t>Lack of confidence in the product</a:t>
            </a:r>
            <a:endParaRPr lang="ru-RU" sz="1400" dirty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/>
              <a:t>Interface inconvenience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/>
              <a:t>lack of motivation to buy</a:t>
            </a:r>
            <a:endParaRPr lang="ru-RU" sz="1400" dirty="0"/>
          </a:p>
        </p:txBody>
      </p:sp>
      <p:pic>
        <p:nvPicPr>
          <p:cNvPr id="7" name="Рисунок 6" descr="Целевая аудитория со сплошной заливкой">
            <a:extLst>
              <a:ext uri="{FF2B5EF4-FFF2-40B4-BE49-F238E27FC236}">
                <a16:creationId xmlns:a16="http://schemas.microsoft.com/office/drawing/2014/main" id="{E66D3CCE-4F52-40F4-8356-591C8C70A6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51641" y="3487938"/>
            <a:ext cx="3154316" cy="315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85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3991DB-BD75-49F7-9325-E4847FA96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3201" y="1192519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Recommendations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3898D2-BA02-470D-8737-CCD0D956B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3201" y="2518082"/>
            <a:ext cx="6490686" cy="2622089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1600" dirty="0"/>
              <a:t>Simplify the path to adding to cart for new users.</a:t>
            </a:r>
            <a:endParaRPr lang="ru-RU" sz="1600" dirty="0"/>
          </a:p>
          <a:p>
            <a:pPr algn="just">
              <a:lnSpc>
                <a:spcPct val="120000"/>
              </a:lnSpc>
            </a:pPr>
            <a:r>
              <a:rPr lang="en-US" sz="1600" dirty="0"/>
              <a:t>Add trust triggers</a:t>
            </a:r>
            <a:r>
              <a:rPr lang="ru-RU" sz="1600" dirty="0"/>
              <a:t>:</a:t>
            </a:r>
          </a:p>
          <a:p>
            <a:pPr algn="just">
              <a:lnSpc>
                <a:spcPct val="120000"/>
              </a:lnSpc>
            </a:pPr>
            <a:endParaRPr lang="ru-RU" sz="1600" dirty="0"/>
          </a:p>
          <a:p>
            <a:pPr algn="just">
              <a:lnSpc>
                <a:spcPct val="120000"/>
              </a:lnSpc>
            </a:pPr>
            <a:endParaRPr lang="ru-RU" sz="1600" dirty="0"/>
          </a:p>
          <a:p>
            <a:pPr algn="just">
              <a:lnSpc>
                <a:spcPct val="120000"/>
              </a:lnSpc>
            </a:pPr>
            <a:r>
              <a:rPr lang="en-US" sz="1600" dirty="0"/>
              <a:t>Run A/B tests to improve new users conversion.</a:t>
            </a:r>
            <a:endParaRPr lang="ru-RU" sz="1600" dirty="0"/>
          </a:p>
          <a:p>
            <a:pPr algn="just">
              <a:lnSpc>
                <a:spcPct val="120000"/>
              </a:lnSpc>
            </a:pPr>
            <a:r>
              <a:rPr lang="en-US" sz="1600" dirty="0"/>
              <a:t>Focus on monetizing new users, and not just on attracting  them.</a:t>
            </a:r>
            <a:endParaRPr lang="ru-RU" sz="160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1A11E54-EFA0-4ED8-8ADE-B01ADD598A1E}"/>
              </a:ext>
            </a:extLst>
          </p:cNvPr>
          <p:cNvSpPr/>
          <p:nvPr/>
        </p:nvSpPr>
        <p:spPr>
          <a:xfrm>
            <a:off x="2089581" y="3007556"/>
            <a:ext cx="3716415" cy="140584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/>
              <a:t>reviews</a:t>
            </a:r>
            <a:endParaRPr lang="ru-RU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/>
              <a:t>guarantees</a:t>
            </a:r>
            <a:endParaRPr lang="ru-RU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/>
              <a:t>social proof.</a:t>
            </a:r>
            <a:endParaRPr lang="ru-RU" sz="1400" dirty="0"/>
          </a:p>
        </p:txBody>
      </p:sp>
      <p:pic>
        <p:nvPicPr>
          <p:cNvPr id="6" name="Рисунок 5" descr="Тенденция к повышению со сплошной заливкой">
            <a:extLst>
              <a:ext uri="{FF2B5EF4-FFF2-40B4-BE49-F238E27FC236}">
                <a16:creationId xmlns:a16="http://schemas.microsoft.com/office/drawing/2014/main" id="{9AA254E4-1F7F-4B0A-8D40-94E3D7C252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9187" y="4023282"/>
            <a:ext cx="2959223" cy="295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681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3991DB-BD75-49F7-9325-E4847FA96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3201" y="1192519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Conclusions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3898D2-BA02-470D-8737-CCD0D956B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3201" y="2518082"/>
            <a:ext cx="6055681" cy="1200013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600" dirty="0"/>
              <a:t>The main growth point is improving conversion of new users</a:t>
            </a:r>
            <a:r>
              <a:rPr lang="ru-RU" sz="1600" dirty="0"/>
              <a:t>.</a:t>
            </a:r>
          </a:p>
          <a:p>
            <a:pPr>
              <a:lnSpc>
                <a:spcPct val="120000"/>
              </a:lnSpc>
            </a:pPr>
            <a:r>
              <a:rPr lang="en-US" sz="1600" dirty="0"/>
              <a:t>Even a small increase in conversion can lead to a significant increase in revenue without increasing traffic</a:t>
            </a:r>
            <a:r>
              <a:rPr lang="ru-RU" sz="1600" dirty="0"/>
              <a:t>.</a:t>
            </a:r>
          </a:p>
        </p:txBody>
      </p:sp>
      <p:pic>
        <p:nvPicPr>
          <p:cNvPr id="8" name="Рисунок 7" descr="Монеты со сплошной заливкой">
            <a:extLst>
              <a:ext uri="{FF2B5EF4-FFF2-40B4-BE49-F238E27FC236}">
                <a16:creationId xmlns:a16="http://schemas.microsoft.com/office/drawing/2014/main" id="{04CDE5F7-9A3E-4D54-8817-E3AD6245C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682361" y="3718095"/>
            <a:ext cx="3083510" cy="308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580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284</TotalTime>
  <Words>250</Words>
  <Application>Microsoft Office PowerPoint</Application>
  <PresentationFormat>Широкоэкранный</PresentationFormat>
  <Paragraphs>36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Why User Growth Does Not Revenue Growth</vt:lpstr>
      <vt:lpstr>Case Problem</vt:lpstr>
      <vt:lpstr>Purpose of the Case</vt:lpstr>
      <vt:lpstr>Key insights</vt:lpstr>
      <vt:lpstr>Visualizations</vt:lpstr>
      <vt:lpstr>Interpretation</vt:lpstr>
      <vt:lpstr>Recommendations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пользовательских сегментов и конверсий</dc:title>
  <dc:creator>*</dc:creator>
  <cp:lastModifiedBy>*</cp:lastModifiedBy>
  <cp:revision>49</cp:revision>
  <dcterms:created xsi:type="dcterms:W3CDTF">2026-03-17T11:21:07Z</dcterms:created>
  <dcterms:modified xsi:type="dcterms:W3CDTF">2026-03-19T10:16:21Z</dcterms:modified>
</cp:coreProperties>
</file>